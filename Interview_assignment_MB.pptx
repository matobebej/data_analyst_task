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1" r:id="rId9"/>
    <p:sldId id="265" r:id="rId10"/>
    <p:sldId id="268" r:id="rId11"/>
    <p:sldId id="272" r:id="rId12"/>
    <p:sldId id="27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-173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4ABAD-63E8-48BC-8403-118CE40B8D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4023B-669F-4CA1-A07D-46951F42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3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D139-0480-4198-83E2-68CE0B25BC9B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BD47-5F5E-4508-9DFC-0021F20B392D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23E3-326B-4424-9A50-2CBB9CA4B2E5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09F6F-C437-48B6-80BB-8E50899C06AF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6D14-B85F-4865-804C-5734F9C85CDD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6C38-6601-4688-9146-5E61D8B04598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061E-CDAE-49E3-92CB-288B639C3B6F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E9851-4767-4B63-B36B-F772D06043F2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9A586-BE94-448D-BAE3-D5D323B9149F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7CE23-3B6A-482C-9BEA-F32A9EB44C4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C8FD-9717-4D78-9D01-4CBD0AC8CAE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ADDEAF24-54CC-4408-99B3-A70A172EFF44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67D4-1E60-7400-CF1D-9692301F7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375" y="540774"/>
            <a:ext cx="8625250" cy="2674964"/>
          </a:xfrm>
        </p:spPr>
        <p:txBody>
          <a:bodyPr>
            <a:normAutofit/>
          </a:bodyPr>
          <a:lstStyle/>
          <a:p>
            <a:pPr algn="ctr"/>
            <a:r>
              <a:rPr lang="en-US" sz="4800" noProof="0" dirty="0"/>
              <a:t>Commercial Auto Risk Scoring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1A574-A55E-EB6C-A554-107CFB4B6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5454445"/>
            <a:ext cx="9418320" cy="862781"/>
          </a:xfrm>
        </p:spPr>
        <p:txBody>
          <a:bodyPr/>
          <a:lstStyle/>
          <a:p>
            <a:r>
              <a:rPr lang="en-US" noProof="0" dirty="0" err="1"/>
              <a:t>Bc</a:t>
            </a:r>
            <a:r>
              <a:rPr lang="en-US" noProof="0" dirty="0"/>
              <a:t>. Matej Bebej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4CF05-AACD-F0E0-FFED-6FBE9D61B1D9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2927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CE90D-E7F5-A81E-B70C-B0D9EB5A5CE2}"/>
              </a:ext>
            </a:extLst>
          </p:cNvPr>
          <p:cNvSpPr txBox="1"/>
          <p:nvPr/>
        </p:nvSpPr>
        <p:spPr>
          <a:xfrm>
            <a:off x="3805084" y="452284"/>
            <a:ext cx="458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noProof="0" dirty="0">
                <a:solidFill>
                  <a:schemeClr val="accent1">
                    <a:lumMod val="75000"/>
                  </a:schemeClr>
                </a:solidFill>
              </a:rPr>
              <a:t>Table of 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B632E-A735-12A5-01A2-4B6D50C3EF79}"/>
              </a:ext>
            </a:extLst>
          </p:cNvPr>
          <p:cNvSpPr txBox="1"/>
          <p:nvPr/>
        </p:nvSpPr>
        <p:spPr>
          <a:xfrm>
            <a:off x="1474839" y="1799303"/>
            <a:ext cx="85147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7432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Exploratory data analysis</a:t>
            </a:r>
          </a:p>
          <a:p>
            <a:pPr marL="285750" indent="-27432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Modeling methodology improvements</a:t>
            </a:r>
          </a:p>
          <a:p>
            <a:pPr marL="285750" indent="-27432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Production readiness improvements</a:t>
            </a:r>
          </a:p>
          <a:p>
            <a:pPr marL="285750" indent="-27432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Deployment roadmap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BF34D-8C95-D4D3-302D-C8ADE66B1263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43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DDE96B-EF06-4244-1F93-7CFC08F89E7C}"/>
              </a:ext>
            </a:extLst>
          </p:cNvPr>
          <p:cNvSpPr txBox="1"/>
          <p:nvPr/>
        </p:nvSpPr>
        <p:spPr>
          <a:xfrm>
            <a:off x="2286000" y="363793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/>
              <a:t>Explanatory data analysis (EDA)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1533C-4798-B5F4-9DEE-396BC4D42E8A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B0D04-5FD3-876E-B631-9F86B11FBF20}"/>
              </a:ext>
            </a:extLst>
          </p:cNvPr>
          <p:cNvSpPr txBox="1"/>
          <p:nvPr/>
        </p:nvSpPr>
        <p:spPr>
          <a:xfrm>
            <a:off x="914399" y="1632155"/>
            <a:ext cx="10038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We have plenty null values in different columns</a:t>
            </a:r>
          </a:p>
          <a:p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We are working with data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numeric – int, float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object – categorical data, 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Columns that are not present in both </a:t>
            </a:r>
            <a:r>
              <a:rPr lang="en-US" noProof="0" dirty="0" err="1"/>
              <a:t>dataframes</a:t>
            </a:r>
            <a:r>
              <a:rPr lang="en-US" noProof="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labels – </a:t>
            </a:r>
            <a:r>
              <a:rPr lang="en-US" noProof="0" dirty="0" err="1"/>
              <a:t>claim_count</a:t>
            </a:r>
            <a:r>
              <a:rPr lang="en-US" noProof="0" dirty="0"/>
              <a:t>, </a:t>
            </a:r>
            <a:r>
              <a:rPr lang="en-US" noProof="0" dirty="0" err="1"/>
              <a:t>total_loss_ammount</a:t>
            </a:r>
            <a:endParaRPr lang="en-US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other – </a:t>
            </a:r>
            <a:r>
              <a:rPr lang="en-US" noProof="0" dirty="0" err="1"/>
              <a:t>has_safety_program</a:t>
            </a:r>
            <a:endParaRPr lang="en-US" noProof="0" dirty="0"/>
          </a:p>
          <a:p>
            <a:pPr lvl="1"/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Duplicate rows: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full duplicates – 42 records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duplicate id (</a:t>
            </a:r>
            <a:r>
              <a:rPr lang="en-US" noProof="0" dirty="0" err="1"/>
              <a:t>policy_id</a:t>
            </a:r>
            <a:r>
              <a:rPr lang="en-US" noProof="0" dirty="0"/>
              <a:t>) – 33 records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84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8E64-5260-5CD4-BF60-B0407FE8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BA000A-8E65-096E-B384-BA536CD05485}"/>
              </a:ext>
            </a:extLst>
          </p:cNvPr>
          <p:cNvSpPr txBox="1"/>
          <p:nvPr/>
        </p:nvSpPr>
        <p:spPr>
          <a:xfrm>
            <a:off x="2286000" y="363793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/>
              <a:t>Explanatory data analysis (EDA)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1B10B-7E8A-558B-7263-72277E026B1C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5EEAA-6AC8-DBD1-00E5-8FED31397C34}"/>
              </a:ext>
            </a:extLst>
          </p:cNvPr>
          <p:cNvSpPr txBox="1"/>
          <p:nvPr/>
        </p:nvSpPr>
        <p:spPr>
          <a:xfrm>
            <a:off x="914399" y="1632155"/>
            <a:ext cx="10038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Attributes are not normally distributed – data is skewed: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normaltes</a:t>
            </a:r>
            <a:r>
              <a:rPr lang="sk-SK" noProof="0" dirty="0"/>
              <a:t>t</a:t>
            </a:r>
            <a:r>
              <a:rPr lang="en-US" noProof="0" dirty="0"/>
              <a:t>, histogram</a:t>
            </a:r>
          </a:p>
          <a:p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Most numeric attributes have outlier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Relationships and correlations: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Used spearman correlation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Data leaks: Claim_paid_ammount_current_period – has value only when labels c</a:t>
            </a:r>
            <a:r>
              <a:rPr lang="sk-SK" noProof="0" dirty="0"/>
              <a:t>o</a:t>
            </a:r>
            <a:r>
              <a:rPr lang="en-US" noProof="0" dirty="0" err="1"/>
              <a:t>ntain</a:t>
            </a:r>
            <a:r>
              <a:rPr lang="en-US" noProof="0" dirty="0"/>
              <a:t> value &gt; 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Correlation ≈ 100%</a:t>
            </a:r>
          </a:p>
          <a:p>
            <a:pPr lvl="2"/>
            <a:endParaRPr lang="en-US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Multicolinearity</a:t>
            </a:r>
            <a:r>
              <a:rPr lang="en-US" noProof="0" dirty="0"/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vehicle_count</a:t>
            </a:r>
            <a:r>
              <a:rPr lang="en-US" noProof="0" dirty="0"/>
              <a:t> - prior_year_mileage_000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prior_apd_claim_claim_count</a:t>
            </a:r>
            <a:r>
              <a:rPr lang="en-US" noProof="0" dirty="0"/>
              <a:t> - </a:t>
            </a:r>
            <a:r>
              <a:rPr lang="en-US" noProof="0" dirty="0" err="1"/>
              <a:t>prior_loss_amount</a:t>
            </a:r>
            <a:endParaRPr lang="en-US" noProof="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prior_al_claim_count</a:t>
            </a:r>
            <a:r>
              <a:rPr lang="en-US" noProof="0" dirty="0"/>
              <a:t> - </a:t>
            </a:r>
            <a:r>
              <a:rPr lang="en-US" noProof="0" dirty="0" err="1"/>
              <a:t>prior_loss_amount</a:t>
            </a:r>
            <a:endParaRPr lang="en-US" noProof="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99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7B34-823C-AF1B-C99D-5606E305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B04C8-294C-B623-8E01-394811202085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1AB123-92DC-C8C4-D6A6-245D67FF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288" y="0"/>
            <a:ext cx="6345253" cy="685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8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6F9EA-09A4-49BC-412E-11DC90F4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8989-F89A-AD61-6E3D-4BCE3A23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9712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/>
              <a:t>Modeling methodology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47206-0244-28CA-22B1-E366E70F9C70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5489E-BC89-10B3-FFED-3B85FE26FAC8}"/>
              </a:ext>
            </a:extLst>
          </p:cNvPr>
          <p:cNvSpPr txBox="1"/>
          <p:nvPr/>
        </p:nvSpPr>
        <p:spPr>
          <a:xfrm>
            <a:off x="1032386" y="2359742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Different feature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EB83B-79AD-F969-D971-184291BB3613}"/>
              </a:ext>
            </a:extLst>
          </p:cNvPr>
          <p:cNvSpPr txBox="1"/>
          <p:nvPr/>
        </p:nvSpPr>
        <p:spPr>
          <a:xfrm>
            <a:off x="1032386" y="3224981"/>
            <a:ext cx="9692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Current split used -&gt; </a:t>
            </a:r>
            <a:r>
              <a:rPr lang="en-US" noProof="0" dirty="0" err="1"/>
              <a:t>X_train</a:t>
            </a:r>
            <a:r>
              <a:rPr lang="en-US" noProof="0" dirty="0"/>
              <a:t>, </a:t>
            </a:r>
            <a:r>
              <a:rPr lang="en-US" noProof="0" dirty="0" err="1"/>
              <a:t>X_test</a:t>
            </a:r>
            <a:r>
              <a:rPr lang="en-US" noProof="0" dirty="0"/>
              <a:t>, </a:t>
            </a:r>
            <a:r>
              <a:rPr lang="en-US" noProof="0" dirty="0" err="1"/>
              <a:t>y_train</a:t>
            </a:r>
            <a:r>
              <a:rPr lang="en-US" noProof="0" dirty="0"/>
              <a:t>, </a:t>
            </a:r>
            <a:r>
              <a:rPr lang="en-US" noProof="0" dirty="0" err="1"/>
              <a:t>y_test</a:t>
            </a:r>
            <a:r>
              <a:rPr lang="en-US" noProof="0" dirty="0"/>
              <a:t> = </a:t>
            </a:r>
            <a:r>
              <a:rPr lang="en-US" noProof="0" dirty="0" err="1"/>
              <a:t>train_test_split</a:t>
            </a:r>
            <a:r>
              <a:rPr lang="en-US" noProof="0" dirty="0"/>
              <a:t>(X, y, </a:t>
            </a:r>
            <a:r>
              <a:rPr lang="en-US" noProof="0" dirty="0" err="1"/>
              <a:t>test_size</a:t>
            </a:r>
            <a:r>
              <a:rPr lang="en-US" noProof="0" dirty="0"/>
              <a:t>=0.2)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This split is created with unordered randomly shuffled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More fitting would be splitting after ordering based on year – time-based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Results of time-based validation set would be more generalizing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Years (or </a:t>
            </a:r>
            <a:r>
              <a:rPr lang="sk-SK" noProof="0" dirty="0"/>
              <a:t>m</a:t>
            </a:r>
            <a:r>
              <a:rPr lang="en-US" noProof="0" dirty="0" err="1"/>
              <a:t>onths</a:t>
            </a:r>
            <a:r>
              <a:rPr lang="en-US" noProof="0" dirty="0"/>
              <a:t>) can be extracted from </a:t>
            </a:r>
            <a:r>
              <a:rPr lang="en-US" noProof="0" dirty="0" err="1"/>
              <a:t>policy_effective_date</a:t>
            </a:r>
            <a:endParaRPr lang="en-US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334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4D327-4177-A105-03E5-8E5D1235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B122-8822-2C93-43CA-CE7087F3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9712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/>
              <a:t>Modeling methodology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043CB-B24C-8A33-8734-BDA96182B7DC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B1C4E-CEFD-04C3-5970-2A2E121A25D1}"/>
              </a:ext>
            </a:extLst>
          </p:cNvPr>
          <p:cNvSpPr txBox="1"/>
          <p:nvPr/>
        </p:nvSpPr>
        <p:spPr>
          <a:xfrm>
            <a:off x="1032386" y="2359742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Imbalanced target column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0D66E-AE7B-B774-3F0A-8A621285F67E}"/>
              </a:ext>
            </a:extLst>
          </p:cNvPr>
          <p:cNvSpPr txBox="1"/>
          <p:nvPr/>
        </p:nvSpPr>
        <p:spPr>
          <a:xfrm>
            <a:off x="1032386" y="3224981"/>
            <a:ext cx="67844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EDA showed us how imbalanced our label attribute – </a:t>
            </a:r>
            <a:r>
              <a:rPr lang="en-US" noProof="0" dirty="0" err="1"/>
              <a:t>claim_count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Vast majority of records are without claim (13146)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If predictions are all 0, we still get great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Solution: </a:t>
            </a:r>
            <a:r>
              <a:rPr lang="en-US" noProof="0" dirty="0" err="1"/>
              <a:t>tmp</a:t>
            </a:r>
            <a:r>
              <a:rPr lang="en-US" noProof="0" dirty="0"/>
              <a:t> = LogisticRegression(</a:t>
            </a:r>
            <a:r>
              <a:rPr lang="en-US" noProof="0" dirty="0" err="1"/>
              <a:t>max_iter</a:t>
            </a:r>
            <a:r>
              <a:rPr lang="en-US" noProof="0" dirty="0"/>
              <a:t>=1000, </a:t>
            </a:r>
            <a:r>
              <a:rPr lang="en-US" noProof="0" dirty="0" err="1"/>
              <a:t>class_weight</a:t>
            </a:r>
            <a:r>
              <a:rPr lang="en-US" noProof="0" dirty="0"/>
              <a:t>='balanced')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420A8A-DB24-6F6E-86EA-4082CE9F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35" y="3333136"/>
            <a:ext cx="3342779" cy="266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A701-9B81-795D-028B-31368504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9712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/>
              <a:t>Modeling methodology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CF4D0-F00D-CF7E-CD5C-CB198D7DB154}"/>
              </a:ext>
            </a:extLst>
          </p:cNvPr>
          <p:cNvSpPr txBox="1"/>
          <p:nvPr/>
        </p:nvSpPr>
        <p:spPr>
          <a:xfrm>
            <a:off x="11405419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A1F7F-B491-349D-762C-5E573A0D4493}"/>
              </a:ext>
            </a:extLst>
          </p:cNvPr>
          <p:cNvSpPr txBox="1"/>
          <p:nvPr/>
        </p:nvSpPr>
        <p:spPr>
          <a:xfrm>
            <a:off x="1032386" y="2359742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Different feature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6CBAF-2255-F1CD-042A-95426299F57D}"/>
              </a:ext>
            </a:extLst>
          </p:cNvPr>
          <p:cNvSpPr txBox="1"/>
          <p:nvPr/>
        </p:nvSpPr>
        <p:spPr>
          <a:xfrm>
            <a:off x="1032386" y="3224981"/>
            <a:ext cx="96926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Model is fed leaky columns: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claim_paid_ammount_current_period</a:t>
            </a:r>
            <a:r>
              <a:rPr lang="en-US" noProof="0" dirty="0"/>
              <a:t> – show</a:t>
            </a:r>
            <a:r>
              <a:rPr lang="sk-SK" noProof="0" dirty="0"/>
              <a:t>s</a:t>
            </a:r>
            <a:r>
              <a:rPr lang="en-US" noProof="0" dirty="0"/>
              <a:t> 100% correlation with our label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first_claim_reported_date</a:t>
            </a:r>
            <a:r>
              <a:rPr lang="en-US" noProof="0" dirty="0"/>
              <a:t>, </a:t>
            </a:r>
            <a:r>
              <a:rPr lang="en-US" noProof="0" dirty="0" err="1"/>
              <a:t>claim_status_current_period</a:t>
            </a:r>
            <a:r>
              <a:rPr lang="en-US" noProof="0" dirty="0"/>
              <a:t>, </a:t>
            </a:r>
            <a:r>
              <a:rPr lang="en-US" noProof="0" dirty="0" err="1"/>
              <a:t>days_to_first_claim_report</a:t>
            </a:r>
            <a:r>
              <a:rPr lang="en-US" noProof="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Found by ma</a:t>
            </a:r>
            <a:r>
              <a:rPr lang="sk-SK" noProof="0" dirty="0"/>
              <a:t>n</a:t>
            </a:r>
            <a:r>
              <a:rPr lang="en-US" noProof="0" dirty="0" err="1"/>
              <a:t>ual</a:t>
            </a:r>
            <a:r>
              <a:rPr lang="en-US" noProof="0" dirty="0"/>
              <a:t> observation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If they do not contain specific values (null/ No Claim) they predict target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Model is fed </a:t>
            </a:r>
            <a:r>
              <a:rPr lang="en-US" noProof="0" dirty="0" err="1"/>
              <a:t>multicolinear</a:t>
            </a:r>
            <a:r>
              <a:rPr lang="en-US" noProof="0" dirty="0"/>
              <a:t> attributes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Filter them with cross validation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14883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FAFA-B656-C921-6BB4-D665503F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216505-8D17-0B62-4616-84825999E710}"/>
              </a:ext>
            </a:extLst>
          </p:cNvPr>
          <p:cNvSpPr txBox="1"/>
          <p:nvPr/>
        </p:nvSpPr>
        <p:spPr>
          <a:xfrm>
            <a:off x="11395587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8432A-ECC7-BE42-18E9-8AF30747292D}"/>
              </a:ext>
            </a:extLst>
          </p:cNvPr>
          <p:cNvSpPr txBox="1"/>
          <p:nvPr/>
        </p:nvSpPr>
        <p:spPr>
          <a:xfrm>
            <a:off x="-99306" y="2143432"/>
            <a:ext cx="10038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noProof="0" dirty="0"/>
              <a:t>Using pipeline: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Provide</a:t>
            </a:r>
            <a:r>
              <a:rPr lang="sk-SK" dirty="0"/>
              <a:t>s</a:t>
            </a:r>
            <a:r>
              <a:rPr lang="en-US" noProof="0" dirty="0"/>
              <a:t> end-to-end execution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Eliminate</a:t>
            </a:r>
            <a:r>
              <a:rPr lang="sk-SK" noProof="0" dirty="0"/>
              <a:t>s</a:t>
            </a:r>
            <a:r>
              <a:rPr lang="en-US" noProof="0" dirty="0"/>
              <a:t> training-serving-skew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Replace</a:t>
            </a:r>
            <a:r>
              <a:rPr lang="sk-SK" noProof="0" dirty="0"/>
              <a:t>s</a:t>
            </a:r>
            <a:r>
              <a:rPr lang="en-US" noProof="0" dirty="0"/>
              <a:t> current manual preprocessing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noProof="0" dirty="0"/>
              <a:t>Modular code architecture</a:t>
            </a:r>
            <a:r>
              <a:rPr lang="sk-SK" dirty="0"/>
              <a:t>:</a:t>
            </a:r>
            <a:endParaRPr lang="en-US" noProof="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Separating one script to several modules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Improves readability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Improves scalability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noProof="0" dirty="0"/>
              <a:t>Adding schemas for data validation</a:t>
            </a:r>
            <a:r>
              <a:rPr lang="sk-SK" dirty="0"/>
              <a:t>:</a:t>
            </a:r>
            <a:endParaRPr lang="en-US" noProof="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Automatic solution to detect possible threats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Deals with c</a:t>
            </a:r>
            <a:r>
              <a:rPr lang="sk-SK" noProof="0" dirty="0"/>
              <a:t>o</a:t>
            </a:r>
            <a:r>
              <a:rPr lang="en-US" noProof="0" dirty="0"/>
              <a:t>r</a:t>
            </a:r>
            <a:r>
              <a:rPr lang="sk-SK" noProof="0" dirty="0"/>
              <a:t>r</a:t>
            </a:r>
            <a:r>
              <a:rPr lang="en-US" noProof="0" dirty="0" err="1"/>
              <a:t>upt</a:t>
            </a:r>
            <a:r>
              <a:rPr lang="en-US" noProof="0" dirty="0"/>
              <a:t> values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Deals with missing values/ columns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noProof="0" dirty="0"/>
              <a:t>Ensures Model is fed safe records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41F00-40F5-7001-E19A-D8C9A486B475}"/>
              </a:ext>
            </a:extLst>
          </p:cNvPr>
          <p:cNvSpPr txBox="1">
            <a:spLocks/>
          </p:cNvSpPr>
          <p:nvPr/>
        </p:nvSpPr>
        <p:spPr>
          <a:xfrm>
            <a:off x="1249680" y="62269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noProof="0" dirty="0"/>
              <a:t>Production readiness improvements</a:t>
            </a:r>
          </a:p>
        </p:txBody>
      </p:sp>
    </p:spTree>
    <p:extLst>
      <p:ext uri="{BB962C8B-B14F-4D97-AF65-F5344CB8AC3E}">
        <p14:creationId xmlns:p14="http://schemas.microsoft.com/office/powerpoint/2010/main" val="2227231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806A-10E8-928E-0906-F70CDC54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7267-7977-B995-FB2D-CF3745EF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9712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/>
              <a:t>Deployment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3F24B-70FA-0E4F-F4BF-9E98DB9B634D}"/>
              </a:ext>
            </a:extLst>
          </p:cNvPr>
          <p:cNvSpPr txBox="1"/>
          <p:nvPr/>
        </p:nvSpPr>
        <p:spPr>
          <a:xfrm>
            <a:off x="11405419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5502F-9D76-71E5-CEBB-751E9F15D7DC}"/>
              </a:ext>
            </a:extLst>
          </p:cNvPr>
          <p:cNvSpPr txBox="1"/>
          <p:nvPr/>
        </p:nvSpPr>
        <p:spPr>
          <a:xfrm>
            <a:off x="1032386" y="2359742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Containerization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CE014-34BE-8372-09FA-6AD984011D7D}"/>
              </a:ext>
            </a:extLst>
          </p:cNvPr>
          <p:cNvSpPr txBox="1"/>
          <p:nvPr/>
        </p:nvSpPr>
        <p:spPr>
          <a:xfrm>
            <a:off x="1032386" y="2967335"/>
            <a:ext cx="9692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Pack</a:t>
            </a:r>
            <a:r>
              <a:rPr lang="sk-SK" noProof="0" dirty="0"/>
              <a:t>a</a:t>
            </a:r>
            <a:r>
              <a:rPr lang="en-US" noProof="0" dirty="0" err="1"/>
              <a:t>ge</a:t>
            </a:r>
            <a:r>
              <a:rPr lang="en-US" noProof="0" dirty="0"/>
              <a:t> code, model, pipeline into a Docker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Ensures </a:t>
            </a:r>
            <a:r>
              <a:rPr lang="sk-SK" noProof="0" dirty="0"/>
              <a:t>e</a:t>
            </a:r>
            <a:r>
              <a:rPr lang="en-US" noProof="0" dirty="0" err="1"/>
              <a:t>nviro</a:t>
            </a:r>
            <a:r>
              <a:rPr lang="sk-SK" noProof="0" dirty="0" err="1"/>
              <a:t>nment</a:t>
            </a:r>
            <a:r>
              <a:rPr lang="en-US" noProof="0" dirty="0"/>
              <a:t> compatibility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C249D-B341-797C-8C66-0FA4AE859C41}"/>
              </a:ext>
            </a:extLst>
          </p:cNvPr>
          <p:cNvSpPr txBox="1"/>
          <p:nvPr/>
        </p:nvSpPr>
        <p:spPr>
          <a:xfrm>
            <a:off x="1032385" y="4391618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4A4D53-50C7-0757-F859-2C2724C94A2E}"/>
              </a:ext>
            </a:extLst>
          </p:cNvPr>
          <p:cNvSpPr txBox="1"/>
          <p:nvPr/>
        </p:nvSpPr>
        <p:spPr>
          <a:xfrm>
            <a:off x="1032385" y="4999211"/>
            <a:ext cx="9692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Creating scenarios for edge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Performance and load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Regression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4910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3902C-2C57-8E51-D733-76266E85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B882-EB78-A42D-B2ED-236A38F0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9712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/>
              <a:t>Deployment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D3A73-61CE-4296-FFC5-567B37311FCC}"/>
              </a:ext>
            </a:extLst>
          </p:cNvPr>
          <p:cNvSpPr txBox="1"/>
          <p:nvPr/>
        </p:nvSpPr>
        <p:spPr>
          <a:xfrm>
            <a:off x="11405419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C3686-6E71-5A66-FC46-7A0BD042BFAD}"/>
              </a:ext>
            </a:extLst>
          </p:cNvPr>
          <p:cNvSpPr txBox="1"/>
          <p:nvPr/>
        </p:nvSpPr>
        <p:spPr>
          <a:xfrm>
            <a:off x="1032386" y="2359742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2CC85-029D-776C-C654-1DA57530D2D4}"/>
              </a:ext>
            </a:extLst>
          </p:cNvPr>
          <p:cNvSpPr txBox="1"/>
          <p:nvPr/>
        </p:nvSpPr>
        <p:spPr>
          <a:xfrm>
            <a:off x="1032386" y="2967335"/>
            <a:ext cx="9692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Track prediction quality, compare obtained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Se</a:t>
            </a:r>
            <a:r>
              <a:rPr lang="sk-SK" noProof="0" dirty="0"/>
              <a:t>t</a:t>
            </a:r>
            <a:r>
              <a:rPr lang="en-US" noProof="0" dirty="0"/>
              <a:t>ting alerts</a:t>
            </a:r>
            <a:r>
              <a:rPr lang="sk-SK" noProof="0" dirty="0"/>
              <a:t>,</a:t>
            </a:r>
            <a:r>
              <a:rPr lang="en-US" noProof="0" dirty="0"/>
              <a:t> triggers in case </a:t>
            </a:r>
            <a:r>
              <a:rPr lang="sk-SK" noProof="0" dirty="0"/>
              <a:t>of </a:t>
            </a:r>
            <a:r>
              <a:rPr lang="en-US" noProof="0" dirty="0"/>
              <a:t>errors</a:t>
            </a:r>
            <a:r>
              <a:rPr lang="sk-SK" dirty="0"/>
              <a:t>,</a:t>
            </a:r>
            <a:r>
              <a:rPr lang="sk-SK" noProof="0" dirty="0"/>
              <a:t> or</a:t>
            </a:r>
            <a:r>
              <a:rPr lang="en-US" noProof="0" dirty="0"/>
              <a:t> quality drop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DB8DA-60D3-C896-E0B5-55F444A6D32F}"/>
              </a:ext>
            </a:extLst>
          </p:cNvPr>
          <p:cNvSpPr txBox="1"/>
          <p:nvPr/>
        </p:nvSpPr>
        <p:spPr>
          <a:xfrm>
            <a:off x="1032385" y="4391618"/>
            <a:ext cx="4611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5B819-4AD4-BDC4-D078-4D93C4E67079}"/>
              </a:ext>
            </a:extLst>
          </p:cNvPr>
          <p:cNvSpPr txBox="1"/>
          <p:nvPr/>
        </p:nvSpPr>
        <p:spPr>
          <a:xfrm>
            <a:off x="1032385" y="4999211"/>
            <a:ext cx="9692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Record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Track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Technical and operational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395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35E1-19ED-A0A5-1354-BC7FD6AF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BFDB-C3FA-0C63-7CCE-07F08FA9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005-79BA-6D91-2ADA-473E050A5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54942"/>
            <a:ext cx="8595360" cy="4351337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400" b="1" noProof="0" dirty="0">
                <a:solidFill>
                  <a:schemeClr val="accent1">
                    <a:lumMod val="75000"/>
                  </a:schemeClr>
                </a:solidFill>
              </a:rPr>
              <a:t>Models used</a:t>
            </a:r>
          </a:p>
          <a:p>
            <a:pPr lvl="2"/>
            <a:r>
              <a:rPr lang="en-US" sz="1800" b="1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800" noProof="0" dirty="0">
                <a:solidFill>
                  <a:schemeClr val="tx1"/>
                </a:solidFill>
              </a:rPr>
              <a:t>Gemin</a:t>
            </a:r>
            <a:r>
              <a:rPr lang="sk-SK" sz="1800" noProof="0" dirty="0">
                <a:solidFill>
                  <a:schemeClr val="tx1"/>
                </a:solidFill>
              </a:rPr>
              <a:t>i</a:t>
            </a:r>
            <a:r>
              <a:rPr lang="en-US" sz="1800" noProof="0" dirty="0">
                <a:solidFill>
                  <a:schemeClr val="tx1"/>
                </a:solidFill>
              </a:rPr>
              <a:t> by Google (3.1 pro/  3.5 Flash-lite)</a:t>
            </a:r>
          </a:p>
          <a:p>
            <a:pPr lvl="1"/>
            <a:endParaRPr lang="en-US" b="1" noProof="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sz="2400" b="1" noProof="0" dirty="0">
                <a:solidFill>
                  <a:schemeClr val="accent1">
                    <a:lumMod val="75000"/>
                  </a:schemeClr>
                </a:solidFill>
              </a:rPr>
              <a:t>Data navigation</a:t>
            </a:r>
          </a:p>
          <a:p>
            <a:pPr lvl="2"/>
            <a:r>
              <a:rPr lang="en-US" sz="1800" noProof="0" dirty="0">
                <a:solidFill>
                  <a:schemeClr val="tx1"/>
                </a:solidFill>
              </a:rPr>
              <a:t>Used to parse, navigate, and understand unfamiliar insurance </a:t>
            </a:r>
            <a:r>
              <a:rPr lang="en-US" sz="1800" noProof="0" dirty="0" err="1">
                <a:solidFill>
                  <a:schemeClr val="tx1"/>
                </a:solidFill>
              </a:rPr>
              <a:t>dataframes</a:t>
            </a:r>
            <a:endParaRPr lang="en-US" sz="1800" noProof="0" dirty="0">
              <a:solidFill>
                <a:schemeClr val="tx1"/>
              </a:solidFill>
            </a:endParaRPr>
          </a:p>
          <a:p>
            <a:pPr lvl="1"/>
            <a:endParaRPr lang="en-US" noProof="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sz="2400" b="1" noProof="0" dirty="0">
                <a:solidFill>
                  <a:schemeClr val="accent2"/>
                </a:solidFill>
              </a:rPr>
              <a:t>Methodological correction</a:t>
            </a:r>
          </a:p>
          <a:p>
            <a:pPr lvl="2"/>
            <a:r>
              <a:rPr lang="en-US" sz="1800" noProof="0" dirty="0">
                <a:solidFill>
                  <a:schemeClr val="tx1"/>
                </a:solidFill>
              </a:rPr>
              <a:t>Challenged initial assumptions and identified tailored methods for specific scenario of the given task</a:t>
            </a:r>
            <a:br>
              <a:rPr lang="en-US" sz="1800" noProof="0" dirty="0">
                <a:solidFill>
                  <a:schemeClr val="tx1"/>
                </a:solidFill>
              </a:rPr>
            </a:br>
            <a:endParaRPr lang="en-US" sz="1800" noProof="0" dirty="0">
              <a:solidFill>
                <a:schemeClr val="accent2"/>
              </a:solidFill>
            </a:endParaRPr>
          </a:p>
          <a:p>
            <a:pPr lvl="1"/>
            <a:r>
              <a:rPr lang="en-US" sz="2400" b="1" noProof="0" dirty="0">
                <a:solidFill>
                  <a:schemeClr val="accent2"/>
                </a:solidFill>
              </a:rPr>
              <a:t>Research</a:t>
            </a:r>
          </a:p>
          <a:p>
            <a:pPr lvl="2"/>
            <a:r>
              <a:rPr lang="en-US" sz="1800" noProof="0" dirty="0">
                <a:solidFill>
                  <a:schemeClr val="tx1"/>
                </a:solidFill>
              </a:rPr>
              <a:t>Used to research complex topics, such as specifics of deployment roadmap</a:t>
            </a:r>
          </a:p>
          <a:p>
            <a:pPr lvl="1"/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C9928-F940-6A5F-6470-F797ABAD239C}"/>
              </a:ext>
            </a:extLst>
          </p:cNvPr>
          <p:cNvSpPr txBox="1"/>
          <p:nvPr/>
        </p:nvSpPr>
        <p:spPr>
          <a:xfrm>
            <a:off x="11405419" y="6096000"/>
            <a:ext cx="69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1</a:t>
            </a:r>
            <a:r>
              <a:rPr lang="sk-SK" noProof="0" dirty="0"/>
              <a:t>2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9291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571E-79F7-064C-5521-33687097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585114"/>
            <a:ext cx="9692640" cy="1397124"/>
          </a:xfrm>
        </p:spPr>
        <p:txBody>
          <a:bodyPr>
            <a:normAutofit/>
          </a:bodyPr>
          <a:lstStyle/>
          <a:p>
            <a:pPr algn="ctr"/>
            <a:r>
              <a:rPr lang="en-US" sz="4800" noProof="0" dirty="0"/>
              <a:t>Thank you for your attention</a:t>
            </a:r>
            <a:r>
              <a:rPr lang="sk-SK" sz="4800" dirty="0"/>
              <a:t>!</a:t>
            </a:r>
            <a:endParaRPr lang="en-US" sz="4800" noProof="0" dirty="0"/>
          </a:p>
        </p:txBody>
      </p:sp>
    </p:spTree>
    <p:extLst>
      <p:ext uri="{BB962C8B-B14F-4D97-AF65-F5344CB8AC3E}">
        <p14:creationId xmlns:p14="http://schemas.microsoft.com/office/powerpoint/2010/main" val="137257816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564</TotalTime>
  <Words>646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Schoolbook</vt:lpstr>
      <vt:lpstr>Wingdings 2</vt:lpstr>
      <vt:lpstr>View</vt:lpstr>
      <vt:lpstr>Commercial Auto Risk Scoring Case Study</vt:lpstr>
      <vt:lpstr>PowerPoint Presentation</vt:lpstr>
      <vt:lpstr>PowerPoint Presentation</vt:lpstr>
      <vt:lpstr>PowerPoint Presentation</vt:lpstr>
      <vt:lpstr>PowerPoint Presentation</vt:lpstr>
      <vt:lpstr>Modeling methodology improvements</vt:lpstr>
      <vt:lpstr>Modeling methodology improvements</vt:lpstr>
      <vt:lpstr>Modeling methodology improvements</vt:lpstr>
      <vt:lpstr>PowerPoint Presentation</vt:lpstr>
      <vt:lpstr>Deployment Roadmap</vt:lpstr>
      <vt:lpstr>Deployment Roadmap</vt:lpstr>
      <vt:lpstr>AI use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Bebej</dc:creator>
  <cp:lastModifiedBy>Matej Bebej</cp:lastModifiedBy>
  <cp:revision>4</cp:revision>
  <dcterms:created xsi:type="dcterms:W3CDTF">2026-10-06T18:23:55Z</dcterms:created>
  <dcterms:modified xsi:type="dcterms:W3CDTF">2026-10-07T21:12:31Z</dcterms:modified>
</cp:coreProperties>
</file>